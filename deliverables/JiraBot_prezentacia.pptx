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81C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85F8"/>
          </a:solidFill>
          <a:ln w="12700">
            <a:solidFill>
              <a:srgbClr val="1685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4652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9A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JiraBot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418320" y="6446520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9A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assistant for Jira &amp; Assets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9A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9A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C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380000">
            <a:off x="7543800" y="-1371600"/>
            <a:ext cx="5760720" cy="5760720"/>
          </a:xfrm>
          <a:prstGeom prst="arc">
            <a:avLst/>
          </a:prstGeom>
          <a:noFill/>
          <a:ln w="25400">
            <a:solidFill>
              <a:srgbClr val="1685F8">
                <a:alpha val="6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380000">
            <a:off x="8412480" y="-457200"/>
            <a:ext cx="3931920" cy="3931920"/>
          </a:xfrm>
          <a:prstGeom prst="arc">
            <a:avLst/>
          </a:prstGeom>
          <a:noFill/>
          <a:ln w="19050">
            <a:solidFill>
              <a:srgbClr val="00C2A8">
                <a:alpha val="9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325880"/>
            <a:ext cx="5943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JiraBot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76656" y="2221992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DCE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asistent pre Jira, Assets a IT procesy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94944" y="2852928"/>
            <a:ext cx="5806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9CB3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Od prirodzenej otázky až po ticket, priradenie zariadenia a pripravený protokol.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4160520"/>
            <a:ext cx="1828800" cy="932688"/>
          </a:xfrm>
          <a:prstGeom prst="roundRect">
            <a:avLst>
              <a:gd name="adj" fmla="val 7843"/>
            </a:avLst>
          </a:prstGeom>
          <a:solidFill>
            <a:srgbClr val="102946"/>
          </a:solidFill>
          <a:ln w="12700">
            <a:solidFill>
              <a:srgbClr val="24496E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4315968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85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JIRA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50392" y="4617720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9CB3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tickety a používatelia</a:t>
            </a:r>
            <a:endParaRPr lang="en-US" sz="1030" dirty="0"/>
          </a:p>
        </p:txBody>
      </p:sp>
      <p:sp>
        <p:nvSpPr>
          <p:cNvPr id="10" name="Shape 8"/>
          <p:cNvSpPr/>
          <p:nvPr/>
        </p:nvSpPr>
        <p:spPr>
          <a:xfrm>
            <a:off x="2752344" y="4160520"/>
            <a:ext cx="1828800" cy="932688"/>
          </a:xfrm>
          <a:prstGeom prst="roundRect">
            <a:avLst>
              <a:gd name="adj" fmla="val 7843"/>
            </a:avLst>
          </a:prstGeom>
          <a:solidFill>
            <a:srgbClr val="102946"/>
          </a:solidFill>
          <a:ln w="12700">
            <a:solidFill>
              <a:srgbClr val="24496E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16936" y="4315968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C2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916936" y="4617720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9CB3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notebooky a evidencia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4818888" y="4160520"/>
            <a:ext cx="1828800" cy="932688"/>
          </a:xfrm>
          <a:prstGeom prst="roundRect">
            <a:avLst>
              <a:gd name="adj" fmla="val 7843"/>
            </a:avLst>
          </a:prstGeom>
          <a:solidFill>
            <a:srgbClr val="102946"/>
          </a:solidFill>
          <a:ln w="12700">
            <a:solidFill>
              <a:srgbClr val="24496E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83480" y="4315968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B5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83480" y="4617720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9CB3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 v slovenčine</a:t>
            </a:r>
            <a:endParaRPr lang="en-US" sz="1030" dirty="0"/>
          </a:p>
        </p:txBody>
      </p:sp>
      <p:sp>
        <p:nvSpPr>
          <p:cNvPr id="16" name="Text 14"/>
          <p:cNvSpPr/>
          <p:nvPr/>
        </p:nvSpPr>
        <p:spPr>
          <a:xfrm>
            <a:off x="694944" y="58521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CB3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Projektová prezentácia | Imrich Koch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9A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C2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PREČO TENTO PROJEKT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agenda je roztrúsená. JiraBot ju spája do jedného rozhovoru.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3429000" cy="3474720"/>
          </a:xfrm>
          <a:prstGeom prst="roundRect">
            <a:avLst>
              <a:gd name="adj" fmla="val 2133"/>
            </a:avLst>
          </a:prstGeom>
          <a:solidFill>
            <a:srgbClr val="102946"/>
          </a:solidFill>
          <a:ln w="12700">
            <a:solidFill>
              <a:srgbClr val="24496E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874520"/>
            <a:ext cx="82296" cy="3474720"/>
          </a:xfrm>
          <a:prstGeom prst="rect">
            <a:avLst>
              <a:gd name="adj" fmla="val 88889"/>
            </a:avLst>
          </a:prstGeom>
          <a:solidFill>
            <a:srgbClr val="FF6B6B"/>
          </a:solidFill>
          <a:ln w="12700">
            <a:solidFill>
              <a:srgbClr val="FF6B6B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2075688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Dnes: veľa kontextových prepnutí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41832" y="2496312"/>
            <a:ext cx="2953512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9CB3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Ticket v Jira. Zariadenie v Assets. Informácie v komentároch. Protokol v súbore. Každý krok je samostatná manuálna úloha.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89120" y="1874520"/>
            <a:ext cx="3429000" cy="3474720"/>
          </a:xfrm>
          <a:prstGeom prst="roundRect">
            <a:avLst>
              <a:gd name="adj" fmla="val 2133"/>
            </a:avLst>
          </a:prstGeom>
          <a:solidFill>
            <a:srgbClr val="102946"/>
          </a:solidFill>
          <a:ln w="12700">
            <a:solidFill>
              <a:srgbClr val="24496E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89120" y="1874520"/>
            <a:ext cx="82296" cy="3474720"/>
          </a:xfrm>
          <a:prstGeom prst="rect">
            <a:avLst>
              <a:gd name="adj" fmla="val 88889"/>
            </a:avLst>
          </a:prstGeom>
          <a:solidFill>
            <a:srgbClr val="1685F8"/>
          </a:solidFill>
          <a:ln w="12700">
            <a:solidFill>
              <a:srgbClr val="1685F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45152" y="2075688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JiraBot: jedna požiadavka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45152" y="2496312"/>
            <a:ext cx="2953512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9CB3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Používateľ napíše bežnú vetu. Bot rozpozná zámer, načíta kontext a vykoná bezpečnú akciu alebo sa dopyta.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92440" y="1874520"/>
            <a:ext cx="3429000" cy="3474720"/>
          </a:xfrm>
          <a:prstGeom prst="roundRect">
            <a:avLst>
              <a:gd name="adj" fmla="val 2133"/>
            </a:avLst>
          </a:prstGeom>
          <a:solidFill>
            <a:srgbClr val="102946"/>
          </a:solidFill>
          <a:ln w="12700">
            <a:solidFill>
              <a:srgbClr val="24496E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92440" y="1874520"/>
            <a:ext cx="82296" cy="3474720"/>
          </a:xfrm>
          <a:prstGeom prst="rect">
            <a:avLst>
              <a:gd name="adj" fmla="val 88889"/>
            </a:avLst>
          </a:prstGeom>
          <a:solidFill>
            <a:srgbClr val="00C2A8"/>
          </a:solidFill>
          <a:ln w="12700">
            <a:solidFill>
              <a:srgbClr val="00C2A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48472" y="2075688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Výsledok: riadený proces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48472" y="2496312"/>
            <a:ext cx="2953512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9CB3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Menej klikov, menej prepisovania dát a jasnejší onboarding či offboarding zariadení.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13232" y="571500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DCE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Cieľ nie je nahradiť Jira. Cieľ je spraviť Jira použiteľnejšou v každodennej práci.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9A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C2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FUNKCIE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Čo vie používateľ vybaviť priamo cez chat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94944" y="1874520"/>
            <a:ext cx="3401568" cy="1417320"/>
          </a:xfrm>
          <a:prstGeom prst="roundRect">
            <a:avLst>
              <a:gd name="adj" fmla="val 5161"/>
            </a:avLst>
          </a:prstGeom>
          <a:solidFill>
            <a:srgbClr val="102946"/>
          </a:solidFill>
          <a:ln w="12700">
            <a:solidFill>
              <a:srgbClr val="24496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0976" y="2130552"/>
            <a:ext cx="475488" cy="475488"/>
          </a:xfrm>
          <a:prstGeom prst="ellipse">
            <a:avLst/>
          </a:prstGeom>
          <a:solidFill>
            <a:srgbClr val="1685F8"/>
          </a:solidFill>
          <a:ln w="12700">
            <a:solidFill>
              <a:srgbClr val="1685F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0976" y="2144268"/>
            <a:ext cx="47548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63624" y="21214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Ticket intelligence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50976" y="26060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9CB3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Vyhľadanie, zoznam, stav a súhrn ticketu vrátane komentárov.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4462272" y="1874520"/>
            <a:ext cx="3401568" cy="1417320"/>
          </a:xfrm>
          <a:prstGeom prst="roundRect">
            <a:avLst>
              <a:gd name="adj" fmla="val 5161"/>
            </a:avLst>
          </a:prstGeom>
          <a:solidFill>
            <a:srgbClr val="102946"/>
          </a:solidFill>
          <a:ln w="12700">
            <a:solidFill>
              <a:srgbClr val="24496E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18304" y="2130552"/>
            <a:ext cx="475488" cy="475488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18304" y="2144268"/>
            <a:ext cx="47548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30952" y="21214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Akcie v Jira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718304" y="26060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9CB3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Vytvorenie, priradenie a uzavretie ticketu s kontrolou kontextu.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8229600" y="1874520"/>
            <a:ext cx="3401568" cy="1417320"/>
          </a:xfrm>
          <a:prstGeom prst="roundRect">
            <a:avLst>
              <a:gd name="adj" fmla="val 5161"/>
            </a:avLst>
          </a:prstGeom>
          <a:solidFill>
            <a:srgbClr val="102946"/>
          </a:solidFill>
          <a:ln w="12700">
            <a:solidFill>
              <a:srgbClr val="24496E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85632" y="2130552"/>
            <a:ext cx="475488" cy="475488"/>
          </a:xfrm>
          <a:prstGeom prst="ellipse">
            <a:avLst/>
          </a:prstGeom>
          <a:solidFill>
            <a:srgbClr val="FFB548"/>
          </a:solidFill>
          <a:ln w="12700">
            <a:solidFill>
              <a:srgbClr val="FFB548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85632" y="2144268"/>
            <a:ext cx="47548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098280" y="21214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Assets lookup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85632" y="26060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9CB3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Zistí, aké zariadenia má konkrétny používateľ priradené.</a:t>
            </a:r>
            <a:endParaRPr lang="en-US" sz="1120" dirty="0"/>
          </a:p>
        </p:txBody>
      </p:sp>
      <p:sp>
        <p:nvSpPr>
          <p:cNvPr id="19" name="Shape 17"/>
          <p:cNvSpPr/>
          <p:nvPr/>
        </p:nvSpPr>
        <p:spPr>
          <a:xfrm>
            <a:off x="694944" y="3721608"/>
            <a:ext cx="3401568" cy="1417320"/>
          </a:xfrm>
          <a:prstGeom prst="roundRect">
            <a:avLst>
              <a:gd name="adj" fmla="val 5161"/>
            </a:avLst>
          </a:prstGeom>
          <a:solidFill>
            <a:srgbClr val="102946"/>
          </a:solidFill>
          <a:ln w="12700">
            <a:solidFill>
              <a:srgbClr val="24496E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50976" y="3977640"/>
            <a:ext cx="475488" cy="475488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0976" y="3991356"/>
            <a:ext cx="47548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563624" y="396849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Dokumenty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50976" y="44531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9CB3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Onboarding/offboarding PDF alebo DOCX z administrátorskej šablóny.</a:t>
            </a:r>
            <a:endParaRPr lang="en-US" sz="1120" dirty="0"/>
          </a:p>
        </p:txBody>
      </p:sp>
      <p:sp>
        <p:nvSpPr>
          <p:cNvPr id="24" name="Shape 22"/>
          <p:cNvSpPr/>
          <p:nvPr/>
        </p:nvSpPr>
        <p:spPr>
          <a:xfrm>
            <a:off x="4462272" y="3721608"/>
            <a:ext cx="3401568" cy="1417320"/>
          </a:xfrm>
          <a:prstGeom prst="roundRect">
            <a:avLst>
              <a:gd name="adj" fmla="val 5161"/>
            </a:avLst>
          </a:prstGeom>
          <a:solidFill>
            <a:srgbClr val="102946"/>
          </a:solidFill>
          <a:ln w="12700">
            <a:solidFill>
              <a:srgbClr val="24496E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18304" y="3977640"/>
            <a:ext cx="475488" cy="475488"/>
          </a:xfrm>
          <a:prstGeom prst="ellipse">
            <a:avLst/>
          </a:prstGeom>
          <a:solidFill>
            <a:srgbClr val="1685F8"/>
          </a:solidFill>
          <a:ln w="12700">
            <a:solidFill>
              <a:srgbClr val="1685F8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18304" y="3991356"/>
            <a:ext cx="47548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30952" y="396849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Používatelia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718304" y="44531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9CB3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Rozpozná prihláseného Jira používateľa a frázu „mne“.</a:t>
            </a:r>
            <a:endParaRPr lang="en-US" sz="1120" dirty="0"/>
          </a:p>
        </p:txBody>
      </p:sp>
      <p:sp>
        <p:nvSpPr>
          <p:cNvPr id="29" name="Shape 27"/>
          <p:cNvSpPr/>
          <p:nvPr/>
        </p:nvSpPr>
        <p:spPr>
          <a:xfrm>
            <a:off x="8229600" y="3721608"/>
            <a:ext cx="3401568" cy="1417320"/>
          </a:xfrm>
          <a:prstGeom prst="roundRect">
            <a:avLst>
              <a:gd name="adj" fmla="val 5161"/>
            </a:avLst>
          </a:prstGeom>
          <a:solidFill>
            <a:srgbClr val="102946"/>
          </a:solidFill>
          <a:ln w="12700">
            <a:solidFill>
              <a:srgbClr val="24496E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485632" y="3977640"/>
            <a:ext cx="475488" cy="475488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85632" y="3991356"/>
            <a:ext cx="47548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098280" y="396849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 riadenie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485632" y="44531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9CB3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Skupiny, práva, model, systémový prompt a skills.md.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9A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C2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SCENÁR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Od otázky po výsledok za pár sekúnd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58368" y="1874520"/>
            <a:ext cx="2487168" cy="2578608"/>
          </a:xfrm>
          <a:prstGeom prst="roundRect">
            <a:avLst>
              <a:gd name="adj" fmla="val 2941"/>
            </a:avLst>
          </a:prstGeom>
          <a:solidFill>
            <a:srgbClr val="102946"/>
          </a:solidFill>
          <a:ln w="12700">
            <a:solidFill>
              <a:srgbClr val="24496E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86968" y="2130552"/>
            <a:ext cx="475488" cy="475488"/>
          </a:xfrm>
          <a:prstGeom prst="ellipse">
            <a:avLst/>
          </a:prstGeom>
          <a:solidFill>
            <a:srgbClr val="1685F8"/>
          </a:solidFill>
          <a:ln w="12700">
            <a:solidFill>
              <a:srgbClr val="1685F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2144268"/>
            <a:ext cx="47548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05256" y="28163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Otvor ticket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05256" y="3291840"/>
            <a:ext cx="19751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9CB3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„Zhrň tiket KAN-4“</a:t>
            </a:r>
            <a:endParaRPr lang="en-US" sz="1230" dirty="0"/>
          </a:p>
        </p:txBody>
      </p:sp>
      <p:sp>
        <p:nvSpPr>
          <p:cNvPr id="9" name="Shape 7"/>
          <p:cNvSpPr/>
          <p:nvPr/>
        </p:nvSpPr>
        <p:spPr>
          <a:xfrm>
            <a:off x="3236976" y="2816352"/>
            <a:ext cx="310896" cy="502920"/>
          </a:xfrm>
          <a:prstGeom prst="chevron">
            <a:avLst/>
          </a:prstGeom>
          <a:solidFill>
            <a:srgbClr val="24496E"/>
          </a:solidFill>
          <a:ln w="12700">
            <a:solidFill>
              <a:srgbClr val="24496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66160" y="1874520"/>
            <a:ext cx="2487168" cy="2578608"/>
          </a:xfrm>
          <a:prstGeom prst="roundRect">
            <a:avLst>
              <a:gd name="adj" fmla="val 2941"/>
            </a:avLst>
          </a:prstGeom>
          <a:solidFill>
            <a:srgbClr val="102946"/>
          </a:solidFill>
          <a:ln w="12700">
            <a:solidFill>
              <a:srgbClr val="24496E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794760" y="2130552"/>
            <a:ext cx="475488" cy="475488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94760" y="2144268"/>
            <a:ext cx="47548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813048" y="28163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načíta kontext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813048" y="3291840"/>
            <a:ext cx="19751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9CB3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Popis, stav, priorita, riešiteľ a komentáre.</a:t>
            </a:r>
            <a:endParaRPr lang="en-US" sz="1230" dirty="0"/>
          </a:p>
        </p:txBody>
      </p:sp>
      <p:sp>
        <p:nvSpPr>
          <p:cNvPr id="15" name="Shape 13"/>
          <p:cNvSpPr/>
          <p:nvPr/>
        </p:nvSpPr>
        <p:spPr>
          <a:xfrm>
            <a:off x="6144768" y="2816352"/>
            <a:ext cx="310896" cy="502920"/>
          </a:xfrm>
          <a:prstGeom prst="chevron">
            <a:avLst/>
          </a:prstGeom>
          <a:solidFill>
            <a:srgbClr val="24496E"/>
          </a:solidFill>
          <a:ln w="12700">
            <a:solidFill>
              <a:srgbClr val="24496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73952" y="1874520"/>
            <a:ext cx="2487168" cy="2578608"/>
          </a:xfrm>
          <a:prstGeom prst="roundRect">
            <a:avLst>
              <a:gd name="adj" fmla="val 2941"/>
            </a:avLst>
          </a:prstGeom>
          <a:solidFill>
            <a:srgbClr val="102946"/>
          </a:solidFill>
          <a:ln w="12700">
            <a:solidFill>
              <a:srgbClr val="24496E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702552" y="2130552"/>
            <a:ext cx="475488" cy="475488"/>
          </a:xfrm>
          <a:prstGeom prst="ellipse">
            <a:avLst/>
          </a:prstGeom>
          <a:solidFill>
            <a:srgbClr val="FFB548"/>
          </a:solidFill>
          <a:ln w="12700">
            <a:solidFill>
              <a:srgbClr val="FFB548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02552" y="2144268"/>
            <a:ext cx="47548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720840" y="28163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 vytvorí odpoveď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720840" y="3291840"/>
            <a:ext cx="19751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9CB3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TL;DR, riziká a odporúčaný ďalší krok.</a:t>
            </a:r>
            <a:endParaRPr lang="en-US" sz="1230" dirty="0"/>
          </a:p>
        </p:txBody>
      </p:sp>
      <p:sp>
        <p:nvSpPr>
          <p:cNvPr id="21" name="Shape 19"/>
          <p:cNvSpPr/>
          <p:nvPr/>
        </p:nvSpPr>
        <p:spPr>
          <a:xfrm>
            <a:off x="9052560" y="2816352"/>
            <a:ext cx="310896" cy="502920"/>
          </a:xfrm>
          <a:prstGeom prst="chevron">
            <a:avLst/>
          </a:prstGeom>
          <a:solidFill>
            <a:srgbClr val="24496E"/>
          </a:solidFill>
          <a:ln w="12700">
            <a:solidFill>
              <a:srgbClr val="24496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381744" y="1874520"/>
            <a:ext cx="2487168" cy="2578608"/>
          </a:xfrm>
          <a:prstGeom prst="roundRect">
            <a:avLst>
              <a:gd name="adj" fmla="val 2941"/>
            </a:avLst>
          </a:prstGeom>
          <a:solidFill>
            <a:srgbClr val="102946"/>
          </a:solidFill>
          <a:ln w="12700">
            <a:solidFill>
              <a:srgbClr val="24496E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610344" y="2130552"/>
            <a:ext cx="475488" cy="475488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10344" y="2144268"/>
            <a:ext cx="47548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628632" y="28163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Používateľ rozhodne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628632" y="3291840"/>
            <a:ext cx="19751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9CB3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Pokračuje, priradí ticket alebo vytvorí ďalšiu akciu.</a:t>
            </a:r>
            <a:endParaRPr lang="en-US" sz="1230" dirty="0"/>
          </a:p>
        </p:txBody>
      </p:sp>
      <p:sp>
        <p:nvSpPr>
          <p:cNvPr id="27" name="Shape 25"/>
          <p:cNvSpPr/>
          <p:nvPr/>
        </p:nvSpPr>
        <p:spPr>
          <a:xfrm>
            <a:off x="694944" y="5029200"/>
            <a:ext cx="10789920" cy="621792"/>
          </a:xfrm>
          <a:prstGeom prst="roundRect">
            <a:avLst>
              <a:gd name="adj" fmla="val 11765"/>
            </a:avLst>
          </a:prstGeom>
          <a:solidFill>
            <a:srgbClr val="143252"/>
          </a:solidFill>
          <a:ln w="12700">
            <a:solidFill>
              <a:srgbClr val="24496E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32688" y="5193792"/>
            <a:ext cx="10287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E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Dôležité: rizikové akcie sa nepotvrdzujú automaticky. Pri hromadnom priradení bot najprv vyžiada „áno“.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9A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C2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ONBOARDING &amp; OFFBOARDING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Assets a dokumentácia sú jeden riadený tok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3108960" cy="3611880"/>
          </a:xfrm>
          <a:prstGeom prst="roundRect">
            <a:avLst>
              <a:gd name="adj" fmla="val 2353"/>
            </a:avLst>
          </a:prstGeom>
          <a:solidFill>
            <a:srgbClr val="102946"/>
          </a:solidFill>
          <a:ln w="12700">
            <a:solidFill>
              <a:srgbClr val="24496E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41832" y="21488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Jira Assets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50976" y="278892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9CB3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Laptop Dell Latitude 7440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286000" y="2788920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4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CDX-4</a:t>
            </a:r>
            <a:endParaRPr lang="en-US" sz="1140" dirty="0"/>
          </a:p>
        </p:txBody>
      </p:sp>
      <p:sp>
        <p:nvSpPr>
          <p:cNvPr id="8" name="Shape 6"/>
          <p:cNvSpPr/>
          <p:nvPr/>
        </p:nvSpPr>
        <p:spPr>
          <a:xfrm>
            <a:off x="932688" y="3090672"/>
            <a:ext cx="2514600" cy="0"/>
          </a:xfrm>
          <a:prstGeom prst="line">
            <a:avLst/>
          </a:prstGeom>
          <a:noFill/>
          <a:ln w="12700">
            <a:solidFill>
              <a:srgbClr val="2449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" y="342900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9CB3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286000" y="3429000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4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Imrich Koch</a:t>
            </a:r>
            <a:endParaRPr lang="en-US" sz="1140" dirty="0"/>
          </a:p>
        </p:txBody>
      </p:sp>
      <p:sp>
        <p:nvSpPr>
          <p:cNvPr id="11" name="Shape 9"/>
          <p:cNvSpPr/>
          <p:nvPr/>
        </p:nvSpPr>
        <p:spPr>
          <a:xfrm>
            <a:off x="932688" y="3730752"/>
            <a:ext cx="2514600" cy="0"/>
          </a:xfrm>
          <a:prstGeom prst="line">
            <a:avLst/>
          </a:prstGeom>
          <a:noFill/>
          <a:ln w="12700">
            <a:solidFill>
              <a:srgbClr val="2449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976" y="406908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9CB3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Serial number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286000" y="4069080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4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DL7440-2026-001</a:t>
            </a:r>
            <a:endParaRPr lang="en-US" sz="1140" dirty="0"/>
          </a:p>
        </p:txBody>
      </p:sp>
      <p:sp>
        <p:nvSpPr>
          <p:cNvPr id="14" name="Shape 12"/>
          <p:cNvSpPr/>
          <p:nvPr/>
        </p:nvSpPr>
        <p:spPr>
          <a:xfrm>
            <a:off x="932688" y="4370832"/>
            <a:ext cx="2514600" cy="0"/>
          </a:xfrm>
          <a:prstGeom prst="line">
            <a:avLst/>
          </a:prstGeom>
          <a:noFill/>
          <a:ln w="12700">
            <a:solidFill>
              <a:srgbClr val="24496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60520" y="3136392"/>
            <a:ext cx="566928" cy="566928"/>
          </a:xfrm>
          <a:prstGeom prst="chevron">
            <a:avLst/>
          </a:prstGeom>
          <a:solidFill>
            <a:srgbClr val="1685F8"/>
          </a:solidFill>
          <a:ln w="12700">
            <a:solidFill>
              <a:srgbClr val="1685F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74920" y="1737360"/>
            <a:ext cx="2743200" cy="3749040"/>
          </a:xfrm>
          <a:prstGeom prst="roundRect">
            <a:avLst>
              <a:gd name="adj" fmla="val 2667"/>
            </a:avLst>
          </a:prstGeom>
          <a:solidFill>
            <a:srgbClr val="F7FAFD"/>
          </a:solidFill>
          <a:ln w="12700">
            <a:solidFill>
              <a:srgbClr val="E7EEF6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394960" y="214884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PREBERACÍ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2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PROTOKOL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394960" y="3154680"/>
            <a:ext cx="2011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34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Meno: Imrich Koch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334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Zariadenie: Dell Latitude 7440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334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Sériové číslo: DL7440-2026-001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13248" y="4791456"/>
            <a:ext cx="2011680" cy="0"/>
          </a:xfrm>
          <a:prstGeom prst="line">
            <a:avLst/>
          </a:prstGeom>
          <a:noFill/>
          <a:ln w="12700">
            <a:solidFill>
              <a:srgbClr val="B4C4D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94960" y="498348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178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Podpis: __________________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3136392"/>
            <a:ext cx="566928" cy="566928"/>
          </a:xfrm>
          <a:prstGeom prst="chevron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070848" y="2148840"/>
            <a:ext cx="2331720" cy="2926080"/>
          </a:xfrm>
          <a:prstGeom prst="roundRect">
            <a:avLst>
              <a:gd name="adj" fmla="val 3137"/>
            </a:avLst>
          </a:prstGeom>
          <a:solidFill>
            <a:srgbClr val="102946"/>
          </a:solidFill>
          <a:ln w="12700">
            <a:solidFill>
              <a:srgbClr val="24496E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070848" y="2148840"/>
            <a:ext cx="82296" cy="2926080"/>
          </a:xfrm>
          <a:prstGeom prst="rect">
            <a:avLst>
              <a:gd name="adj" fmla="val 88889"/>
            </a:avLst>
          </a:prstGeom>
          <a:solidFill>
            <a:srgbClr val="00C2A8"/>
          </a:solidFill>
          <a:ln w="12700">
            <a:solidFill>
              <a:srgbClr val="00C2A8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26880" y="235000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Kontrolovaný výsledok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326880" y="2770632"/>
            <a:ext cx="185623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9CB3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Používateľ vyberie zariadenie.</a:t>
            </a:r>
            <a:endParaRPr lang="en-US" sz="1250" dirty="0"/>
          </a:p>
          <a:p>
            <a:pPr algn="l" indent="0" marL="0">
              <a:buNone/>
            </a:pP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9CB3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Bot vytvorí dokument.</a:t>
            </a:r>
            <a:endParaRPr lang="en-US" sz="1250" dirty="0"/>
          </a:p>
          <a:p>
            <a:pPr algn="l" indent="0" marL="0">
              <a:buNone/>
            </a:pP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9CB3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Assets sa priradí alebo odoberie.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9A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C2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TECHNICKÁ ARCHITEKTÚRA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Oddelené rozhranie, logika, integrácie a dáta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67512" y="2011680"/>
            <a:ext cx="2487168" cy="3246120"/>
          </a:xfrm>
          <a:prstGeom prst="roundRect">
            <a:avLst>
              <a:gd name="adj" fmla="val 2941"/>
            </a:avLst>
          </a:prstGeom>
          <a:solidFill>
            <a:srgbClr val="102946"/>
          </a:solidFill>
          <a:ln w="12700">
            <a:solidFill>
              <a:srgbClr val="24496E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67512" y="2011680"/>
            <a:ext cx="2487168" cy="164592"/>
          </a:xfrm>
          <a:prstGeom prst="rect">
            <a:avLst>
              <a:gd name="adj" fmla="val 44444"/>
            </a:avLst>
          </a:prstGeom>
          <a:solidFill>
            <a:srgbClr val="1685F8"/>
          </a:solidFill>
          <a:ln w="12700">
            <a:solidFill>
              <a:srgbClr val="1685F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244144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Jira Cloud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86968" y="3154680"/>
            <a:ext cx="1965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60" dirty="0">
                <a:solidFill>
                  <a:srgbClr val="9CB3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Forge issue panel</a:t>
            </a:r>
            <a:endParaRPr lang="en-US" sz="1260" dirty="0"/>
          </a:p>
          <a:p>
            <a:pPr algn="l" indent="0" marL="0">
              <a:buNone/>
            </a:pPr>
            <a:r>
              <a:rPr lang="en-US" sz="1260" dirty="0">
                <a:solidFill>
                  <a:srgbClr val="9CB3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Aktuálny ticket</a:t>
            </a:r>
            <a:endParaRPr lang="en-US" sz="1260" dirty="0"/>
          </a:p>
          <a:p>
            <a:pPr algn="l" indent="0" marL="0">
              <a:buNone/>
            </a:pPr>
            <a:r>
              <a:rPr lang="en-US" sz="1260" dirty="0">
                <a:solidFill>
                  <a:srgbClr val="9CB3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Identita používateľa</a:t>
            </a:r>
            <a:endParaRPr lang="en-US" sz="1260" dirty="0"/>
          </a:p>
        </p:txBody>
      </p:sp>
      <p:sp>
        <p:nvSpPr>
          <p:cNvPr id="8" name="Shape 6"/>
          <p:cNvSpPr/>
          <p:nvPr/>
        </p:nvSpPr>
        <p:spPr>
          <a:xfrm>
            <a:off x="3209544" y="3310128"/>
            <a:ext cx="274320" cy="411480"/>
          </a:xfrm>
          <a:prstGeom prst="chevron">
            <a:avLst/>
          </a:prstGeom>
          <a:solidFill>
            <a:srgbClr val="24496E"/>
          </a:solidFill>
          <a:ln w="12700">
            <a:solidFill>
              <a:srgbClr val="24496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75304" y="2011680"/>
            <a:ext cx="2487168" cy="3246120"/>
          </a:xfrm>
          <a:prstGeom prst="roundRect">
            <a:avLst>
              <a:gd name="adj" fmla="val 2941"/>
            </a:avLst>
          </a:prstGeom>
          <a:solidFill>
            <a:srgbClr val="102946"/>
          </a:solidFill>
          <a:ln w="12700">
            <a:solidFill>
              <a:srgbClr val="24496E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75304" y="2011680"/>
            <a:ext cx="2487168" cy="164592"/>
          </a:xfrm>
          <a:prstGeom prst="rect">
            <a:avLst>
              <a:gd name="adj" fmla="val 44444"/>
            </a:avLst>
          </a:prstGeom>
          <a:solidFill>
            <a:srgbClr val="00C2A8"/>
          </a:solidFill>
          <a:ln w="12700">
            <a:solidFill>
              <a:srgbClr val="00C2A8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94760" y="244144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JiraBot API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794760" y="3154680"/>
            <a:ext cx="1965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60" dirty="0">
                <a:solidFill>
                  <a:srgbClr val="9CB3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FastAPI backend</a:t>
            </a:r>
            <a:endParaRPr lang="en-US" sz="1260" dirty="0"/>
          </a:p>
          <a:p>
            <a:pPr algn="l" indent="0" marL="0">
              <a:buNone/>
            </a:pPr>
            <a:r>
              <a:rPr lang="en-US" sz="1260" dirty="0">
                <a:solidFill>
                  <a:srgbClr val="9CB3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Klasifikácia zámeru</a:t>
            </a:r>
            <a:endParaRPr lang="en-US" sz="1260" dirty="0"/>
          </a:p>
          <a:p>
            <a:pPr algn="l" indent="0" marL="0">
              <a:buNone/>
            </a:pPr>
            <a:r>
              <a:rPr lang="en-US" sz="1260" dirty="0">
                <a:solidFill>
                  <a:srgbClr val="9CB3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Bezpečné workflow</a:t>
            </a:r>
            <a:endParaRPr lang="en-US" sz="1260" dirty="0"/>
          </a:p>
        </p:txBody>
      </p:sp>
      <p:sp>
        <p:nvSpPr>
          <p:cNvPr id="13" name="Shape 11"/>
          <p:cNvSpPr/>
          <p:nvPr/>
        </p:nvSpPr>
        <p:spPr>
          <a:xfrm>
            <a:off x="6117336" y="3310128"/>
            <a:ext cx="274320" cy="411480"/>
          </a:xfrm>
          <a:prstGeom prst="chevron">
            <a:avLst/>
          </a:prstGeom>
          <a:solidFill>
            <a:srgbClr val="24496E"/>
          </a:solidFill>
          <a:ln w="12700">
            <a:solidFill>
              <a:srgbClr val="24496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83096" y="2011680"/>
            <a:ext cx="2487168" cy="3246120"/>
          </a:xfrm>
          <a:prstGeom prst="roundRect">
            <a:avLst>
              <a:gd name="adj" fmla="val 2941"/>
            </a:avLst>
          </a:prstGeom>
          <a:solidFill>
            <a:srgbClr val="102946"/>
          </a:solidFill>
          <a:ln w="12700">
            <a:solidFill>
              <a:srgbClr val="24496E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83096" y="2011680"/>
            <a:ext cx="2487168" cy="164592"/>
          </a:xfrm>
          <a:prstGeom prst="rect">
            <a:avLst>
              <a:gd name="adj" fmla="val 44444"/>
            </a:avLst>
          </a:prstGeom>
          <a:solidFill>
            <a:srgbClr val="FFB548"/>
          </a:solidFill>
          <a:ln w="12700">
            <a:solidFill>
              <a:srgbClr val="FFB548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02552" y="244144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Integrácie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702552" y="3154680"/>
            <a:ext cx="1965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60" dirty="0">
                <a:solidFill>
                  <a:srgbClr val="9CB3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Jira REST API</a:t>
            </a:r>
            <a:endParaRPr lang="en-US" sz="1260" dirty="0"/>
          </a:p>
          <a:p>
            <a:pPr algn="l" indent="0" marL="0">
              <a:buNone/>
            </a:pPr>
            <a:r>
              <a:rPr lang="en-US" sz="1260" dirty="0">
                <a:solidFill>
                  <a:srgbClr val="9CB3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Jira Assets API</a:t>
            </a:r>
            <a:endParaRPr lang="en-US" sz="1260" dirty="0"/>
          </a:p>
          <a:p>
            <a:pPr algn="l" indent="0" marL="0">
              <a:buNone/>
            </a:pPr>
            <a:r>
              <a:rPr lang="en-US" sz="1260" dirty="0">
                <a:solidFill>
                  <a:srgbClr val="9CB3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provider</a:t>
            </a:r>
            <a:endParaRPr lang="en-US" sz="1260" dirty="0"/>
          </a:p>
        </p:txBody>
      </p:sp>
      <p:sp>
        <p:nvSpPr>
          <p:cNvPr id="18" name="Shape 16"/>
          <p:cNvSpPr/>
          <p:nvPr/>
        </p:nvSpPr>
        <p:spPr>
          <a:xfrm>
            <a:off x="9025128" y="3310128"/>
            <a:ext cx="274320" cy="411480"/>
          </a:xfrm>
          <a:prstGeom prst="chevron">
            <a:avLst/>
          </a:prstGeom>
          <a:solidFill>
            <a:srgbClr val="24496E"/>
          </a:solidFill>
          <a:ln w="12700">
            <a:solidFill>
              <a:srgbClr val="24496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390888" y="2011680"/>
            <a:ext cx="2487168" cy="3246120"/>
          </a:xfrm>
          <a:prstGeom prst="roundRect">
            <a:avLst>
              <a:gd name="adj" fmla="val 2941"/>
            </a:avLst>
          </a:prstGeom>
          <a:solidFill>
            <a:srgbClr val="102946"/>
          </a:solidFill>
          <a:ln w="12700">
            <a:solidFill>
              <a:srgbClr val="24496E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390888" y="2011680"/>
            <a:ext cx="2487168" cy="164592"/>
          </a:xfrm>
          <a:prstGeom prst="rect">
            <a:avLst>
              <a:gd name="adj" fmla="val 44444"/>
            </a:avLst>
          </a:prstGeom>
          <a:solidFill>
            <a:srgbClr val="FF6B6B"/>
          </a:solidFill>
          <a:ln w="12700">
            <a:solidFill>
              <a:srgbClr val="FF6B6B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10344" y="244144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Dáta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9610344" y="3154680"/>
            <a:ext cx="1965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60" dirty="0">
                <a:solidFill>
                  <a:srgbClr val="9CB3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SQLite: admin a práva</a:t>
            </a:r>
            <a:endParaRPr lang="en-US" sz="1260" dirty="0"/>
          </a:p>
          <a:p>
            <a:pPr algn="l" indent="0" marL="0">
              <a:buNone/>
            </a:pPr>
            <a:r>
              <a:rPr lang="en-US" sz="1260" dirty="0">
                <a:solidFill>
                  <a:srgbClr val="9CB3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Šablóny dokumentov</a:t>
            </a:r>
            <a:endParaRPr lang="en-US" sz="1260" dirty="0"/>
          </a:p>
          <a:p>
            <a:pPr algn="l" indent="0" marL="0">
              <a:buNone/>
            </a:pPr>
            <a:r>
              <a:rPr lang="en-US" sz="1260" dirty="0">
                <a:solidFill>
                  <a:srgbClr val="9CB3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Podpísané downloady</a:t>
            </a:r>
            <a:endParaRPr lang="en-US" sz="1260" dirty="0"/>
          </a:p>
        </p:txBody>
      </p:sp>
      <p:sp>
        <p:nvSpPr>
          <p:cNvPr id="23" name="Text 21"/>
          <p:cNvSpPr/>
          <p:nvPr/>
        </p:nvSpPr>
        <p:spPr>
          <a:xfrm>
            <a:off x="713232" y="5715000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DCE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Forge prenáša iba potrebný kontext. Backend vykonáva integrácie a rozhoduje podľa práv používateľa.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9A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C2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BEZPEČNOSŤ A KONTROLA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nerobí zápisy bez jasného oprávnenia a kontextu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731520" y="1783080"/>
            <a:ext cx="10698480" cy="566928"/>
          </a:xfrm>
          <a:prstGeom prst="roundRect">
            <a:avLst>
              <a:gd name="adj" fmla="val 12903"/>
            </a:avLst>
          </a:prstGeom>
          <a:solidFill>
            <a:srgbClr val="102946"/>
          </a:solidFill>
          <a:ln w="12700">
            <a:solidFill>
              <a:srgbClr val="24496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2688" y="1828800"/>
            <a:ext cx="475488" cy="475488"/>
          </a:xfrm>
          <a:prstGeom prst="ellipse">
            <a:avLst/>
          </a:prstGeom>
          <a:solidFill>
            <a:srgbClr val="1685F8"/>
          </a:solidFill>
          <a:ln w="12700">
            <a:solidFill>
              <a:srgbClr val="1685F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842516"/>
            <a:ext cx="47548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27632" y="189280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Práva používateľa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3794760" y="1892808"/>
            <a:ext cx="7132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9CB3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Skupiny určujú, kto môže čítať tickety, pracovať s Assets alebo generovať dokumenty.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731520" y="2560320"/>
            <a:ext cx="10698480" cy="566928"/>
          </a:xfrm>
          <a:prstGeom prst="roundRect">
            <a:avLst>
              <a:gd name="adj" fmla="val 12903"/>
            </a:avLst>
          </a:prstGeom>
          <a:solidFill>
            <a:srgbClr val="102946"/>
          </a:solidFill>
          <a:ln w="12700">
            <a:solidFill>
              <a:srgbClr val="24496E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32688" y="2606040"/>
            <a:ext cx="475488" cy="475488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2619756"/>
            <a:ext cx="47548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627632" y="267004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Forge + widget secret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794760" y="2670048"/>
            <a:ext cx="7132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9CB3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Panel a backend komunikujú cez overenú integračnú cestu.</a:t>
            </a:r>
            <a:endParaRPr lang="en-US" sz="1220" dirty="0"/>
          </a:p>
        </p:txBody>
      </p:sp>
      <p:sp>
        <p:nvSpPr>
          <p:cNvPr id="14" name="Shape 12"/>
          <p:cNvSpPr/>
          <p:nvPr/>
        </p:nvSpPr>
        <p:spPr>
          <a:xfrm>
            <a:off x="731520" y="3337560"/>
            <a:ext cx="10698480" cy="566928"/>
          </a:xfrm>
          <a:prstGeom prst="roundRect">
            <a:avLst>
              <a:gd name="adj" fmla="val 12903"/>
            </a:avLst>
          </a:prstGeom>
          <a:solidFill>
            <a:srgbClr val="102946"/>
          </a:solidFill>
          <a:ln w="12700">
            <a:solidFill>
              <a:srgbClr val="24496E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32688" y="3383280"/>
            <a:ext cx="475488" cy="475488"/>
          </a:xfrm>
          <a:prstGeom prst="ellipse">
            <a:avLst/>
          </a:prstGeom>
          <a:solidFill>
            <a:srgbClr val="FFB548"/>
          </a:solidFill>
          <a:ln w="12700">
            <a:solidFill>
              <a:srgbClr val="FFB548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396996"/>
            <a:ext cx="47548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627632" y="344728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Podpísané workflow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3794760" y="3447288"/>
            <a:ext cx="7132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9CB3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Rozpracované akcie majú HMAC podpis; klient ich nemôže podvrhnúť.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731520" y="4114800"/>
            <a:ext cx="10698480" cy="566928"/>
          </a:xfrm>
          <a:prstGeom prst="roundRect">
            <a:avLst>
              <a:gd name="adj" fmla="val 12903"/>
            </a:avLst>
          </a:prstGeom>
          <a:solidFill>
            <a:srgbClr val="102946"/>
          </a:solidFill>
          <a:ln w="12700">
            <a:solidFill>
              <a:srgbClr val="24496E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2688" y="4160520"/>
            <a:ext cx="475488" cy="475488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2688" y="4174236"/>
            <a:ext cx="47548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627632" y="422452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Bezpečné potvrdenie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3794760" y="4224528"/>
            <a:ext cx="7132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9CB3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Hromadné priradenie čaká na samostatné potvrdenie „áno“.</a:t>
            </a:r>
            <a:endParaRPr lang="en-US" sz="1220" dirty="0"/>
          </a:p>
        </p:txBody>
      </p:sp>
      <p:sp>
        <p:nvSpPr>
          <p:cNvPr id="24" name="Shape 22"/>
          <p:cNvSpPr/>
          <p:nvPr/>
        </p:nvSpPr>
        <p:spPr>
          <a:xfrm>
            <a:off x="731520" y="4892040"/>
            <a:ext cx="10698480" cy="566928"/>
          </a:xfrm>
          <a:prstGeom prst="roundRect">
            <a:avLst>
              <a:gd name="adj" fmla="val 12903"/>
            </a:avLst>
          </a:prstGeom>
          <a:solidFill>
            <a:srgbClr val="102946"/>
          </a:solidFill>
          <a:ln w="12700">
            <a:solidFill>
              <a:srgbClr val="24496E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32688" y="4937760"/>
            <a:ext cx="475488" cy="475488"/>
          </a:xfrm>
          <a:prstGeom prst="ellipse">
            <a:avLst/>
          </a:prstGeom>
          <a:solidFill>
            <a:srgbClr val="1685F8"/>
          </a:solidFill>
          <a:ln w="12700">
            <a:solidFill>
              <a:srgbClr val="1685F8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32688" y="4951476"/>
            <a:ext cx="47548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627632" y="500176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Dokumenty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3794760" y="5001768"/>
            <a:ext cx="7132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9CB3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Súbory používajú časovo obmedzené podpísané URL.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9A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C2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OVERENÉ SCENÁRE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Testovanie bolo súčasťou implementácie, nie až posledný krok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704088" y="1828800"/>
            <a:ext cx="5285232" cy="1371600"/>
          </a:xfrm>
          <a:prstGeom prst="roundRect">
            <a:avLst>
              <a:gd name="adj" fmla="val 5333"/>
            </a:avLst>
          </a:prstGeom>
          <a:solidFill>
            <a:srgbClr val="102946"/>
          </a:solidFill>
          <a:ln w="12700">
            <a:solidFill>
              <a:srgbClr val="24496E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50976" y="2084832"/>
            <a:ext cx="475488" cy="475488"/>
          </a:xfrm>
          <a:prstGeom prst="ellipse">
            <a:avLst/>
          </a:prstGeom>
          <a:solidFill>
            <a:srgbClr val="1685F8"/>
          </a:solidFill>
          <a:ln w="12700">
            <a:solidFill>
              <a:srgbClr val="1685F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0976" y="2098548"/>
            <a:ext cx="47548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18488" y="20574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 v slovenčine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18488" y="2496312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9CB3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Preklepy, vágne otázky, otázky mimo kontextu a bezpečné fallbacky.</a:t>
            </a:r>
            <a:endParaRPr lang="en-US" sz="1180" dirty="0"/>
          </a:p>
        </p:txBody>
      </p:sp>
      <p:sp>
        <p:nvSpPr>
          <p:cNvPr id="9" name="Shape 7"/>
          <p:cNvSpPr/>
          <p:nvPr/>
        </p:nvSpPr>
        <p:spPr>
          <a:xfrm>
            <a:off x="6190488" y="1828800"/>
            <a:ext cx="5285232" cy="1371600"/>
          </a:xfrm>
          <a:prstGeom prst="roundRect">
            <a:avLst>
              <a:gd name="adj" fmla="val 5333"/>
            </a:avLst>
          </a:prstGeom>
          <a:solidFill>
            <a:srgbClr val="102946"/>
          </a:solidFill>
          <a:ln w="12700">
            <a:solidFill>
              <a:srgbClr val="24496E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37376" y="2084832"/>
            <a:ext cx="475488" cy="475488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37376" y="2098548"/>
            <a:ext cx="47548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104888" y="20574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Jira actions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104888" y="2496312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9CB3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Vyhľadanie, súhrn, priradenie, uzavretie a práca s kontextom ticketu.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704088" y="3749040"/>
            <a:ext cx="5285232" cy="1371600"/>
          </a:xfrm>
          <a:prstGeom prst="roundRect">
            <a:avLst>
              <a:gd name="adj" fmla="val 5333"/>
            </a:avLst>
          </a:prstGeom>
          <a:solidFill>
            <a:srgbClr val="102946"/>
          </a:solidFill>
          <a:ln w="12700">
            <a:solidFill>
              <a:srgbClr val="24496E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50976" y="4005072"/>
            <a:ext cx="475488" cy="475488"/>
          </a:xfrm>
          <a:prstGeom prst="ellipse">
            <a:avLst/>
          </a:prstGeom>
          <a:solidFill>
            <a:srgbClr val="FFB548"/>
          </a:solidFill>
          <a:ln w="12700">
            <a:solidFill>
              <a:srgbClr val="FFB548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0976" y="4018788"/>
            <a:ext cx="47548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618488" y="39776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Assets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18488" y="4416552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9CB3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Vyhľadanie notebookov používateľa a kontrola priradenia/odobratia.</a:t>
            </a:r>
            <a:endParaRPr lang="en-US" sz="1180" dirty="0"/>
          </a:p>
        </p:txBody>
      </p:sp>
      <p:sp>
        <p:nvSpPr>
          <p:cNvPr id="19" name="Shape 17"/>
          <p:cNvSpPr/>
          <p:nvPr/>
        </p:nvSpPr>
        <p:spPr>
          <a:xfrm>
            <a:off x="6190488" y="3749040"/>
            <a:ext cx="5285232" cy="1371600"/>
          </a:xfrm>
          <a:prstGeom prst="roundRect">
            <a:avLst>
              <a:gd name="adj" fmla="val 5333"/>
            </a:avLst>
          </a:prstGeom>
          <a:solidFill>
            <a:srgbClr val="102946"/>
          </a:solidFill>
          <a:ln w="12700">
            <a:solidFill>
              <a:srgbClr val="24496E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37376" y="4005072"/>
            <a:ext cx="475488" cy="475488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37376" y="4018788"/>
            <a:ext cx="47548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104888" y="39776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Dokumenty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104888" y="4416552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9CB3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Upload DOCX/PDF, polia, render, overenie obsahu a cleanup šablón.</a:t>
            </a:r>
            <a:endParaRPr lang="en-US" sz="1180" dirty="0"/>
          </a:p>
        </p:txBody>
      </p:sp>
      <p:sp>
        <p:nvSpPr>
          <p:cNvPr id="24" name="Text 22"/>
          <p:cNvSpPr/>
          <p:nvPr/>
        </p:nvSpPr>
        <p:spPr>
          <a:xfrm>
            <a:off x="749808" y="577900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DCE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Princíp testovania: najprv bezpečné čítanie, potom potvrdený zápis, následne kontrola výsledného stavu.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9A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C2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STAV A ĎALŠÍ ROZVOJ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Funkčný základ je hotový. Ďalší krok je produkčné spevnenie.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5230368" cy="3566160"/>
          </a:xfrm>
          <a:prstGeom prst="roundRect">
            <a:avLst>
              <a:gd name="adj" fmla="val 2051"/>
            </a:avLst>
          </a:prstGeom>
          <a:solidFill>
            <a:srgbClr val="102946"/>
          </a:solidFill>
          <a:ln w="12700">
            <a:solidFill>
              <a:srgbClr val="24496E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828800"/>
            <a:ext cx="5230368" cy="118872"/>
          </a:xfrm>
          <a:prstGeom prst="rect">
            <a:avLst>
              <a:gd name="adj" fmla="val 61538"/>
            </a:avLst>
          </a:prstGeom>
          <a:solidFill>
            <a:srgbClr val="00C2A8"/>
          </a:solidFill>
          <a:ln w="12700">
            <a:solidFill>
              <a:srgbClr val="00C2A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2402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C2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Hotovo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51560" y="2907792"/>
            <a:ext cx="4434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90500" indent="-190500">
              <a:buSzPct val="100000"/>
              <a:buChar char="•"/>
            </a:pPr>
            <a:r>
              <a:rPr lang="en-US" sz="1350" dirty="0">
                <a:solidFill>
                  <a:srgbClr val="DCE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Forge panel v Jira</a:t>
            </a:r>
            <a:endParaRPr lang="en-US" sz="1350" dirty="0"/>
          </a:p>
          <a:p>
            <a:pPr marL="190500" indent="-190500">
              <a:buSzPct val="100000"/>
              <a:buChar char="•"/>
            </a:pPr>
            <a:r>
              <a:rPr lang="en-US" sz="1350" dirty="0">
                <a:solidFill>
                  <a:srgbClr val="DCE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Jira + Assets integrácia</a:t>
            </a:r>
            <a:endParaRPr lang="en-US" sz="1350" dirty="0"/>
          </a:p>
          <a:p>
            <a:pPr marL="190500" indent="-190500">
              <a:buSzPct val="100000"/>
              <a:buChar char="•"/>
            </a:pPr>
            <a:r>
              <a:rPr lang="en-US" sz="1350" dirty="0">
                <a:solidFill>
                  <a:srgbClr val="DCE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Onboarding/offboarding dokumenty</a:t>
            </a:r>
            <a:endParaRPr lang="en-US" sz="1350" dirty="0"/>
          </a:p>
          <a:p>
            <a:pPr marL="190500" indent="-190500">
              <a:buSzPct val="100000"/>
              <a:buChar char="•"/>
            </a:pPr>
            <a:r>
              <a:rPr lang="en-US" sz="1350" dirty="0">
                <a:solidFill>
                  <a:srgbClr val="DCE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 rozhranie a práva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63640" y="1828800"/>
            <a:ext cx="5230368" cy="3566160"/>
          </a:xfrm>
          <a:prstGeom prst="roundRect">
            <a:avLst>
              <a:gd name="adj" fmla="val 2051"/>
            </a:avLst>
          </a:prstGeom>
          <a:solidFill>
            <a:srgbClr val="102946"/>
          </a:solidFill>
          <a:ln w="12700">
            <a:solidFill>
              <a:srgbClr val="24496E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63640" y="1828800"/>
            <a:ext cx="5230368" cy="118872"/>
          </a:xfrm>
          <a:prstGeom prst="rect">
            <a:avLst>
              <a:gd name="adj" fmla="val 61538"/>
            </a:avLst>
          </a:prstGeom>
          <a:solidFill>
            <a:srgbClr val="FFB548"/>
          </a:solidFill>
          <a:ln w="12700">
            <a:solidFill>
              <a:srgbClr val="FFB54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22402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B5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Ďalší krok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629400" y="2907792"/>
            <a:ext cx="4434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90500" indent="-190500">
              <a:buSzPct val="100000"/>
              <a:buChar char="•"/>
            </a:pPr>
            <a:r>
              <a:rPr lang="en-US" sz="1350" dirty="0">
                <a:solidFill>
                  <a:srgbClr val="DCE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Auditné logy a monitoring</a:t>
            </a:r>
            <a:endParaRPr lang="en-US" sz="1350" dirty="0"/>
          </a:p>
          <a:p>
            <a:pPr marL="190500" indent="-190500">
              <a:buSzPct val="100000"/>
              <a:buChar char="•"/>
            </a:pPr>
            <a:r>
              <a:rPr lang="en-US" sz="1350" dirty="0">
                <a:solidFill>
                  <a:srgbClr val="DCE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Rotácia tokenov a backup</a:t>
            </a:r>
            <a:endParaRPr lang="en-US" sz="1350" dirty="0"/>
          </a:p>
          <a:p>
            <a:pPr marL="190500" indent="-190500">
              <a:buSzPct val="100000"/>
              <a:buChar char="•"/>
            </a:pPr>
            <a:r>
              <a:rPr lang="en-US" sz="1350" dirty="0">
                <a:solidFill>
                  <a:srgbClr val="DCE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Lepšie šablóny / vizuálny editor</a:t>
            </a:r>
            <a:endParaRPr lang="en-US" sz="1350" dirty="0"/>
          </a:p>
          <a:p>
            <a:pPr marL="190500" indent="-190500">
              <a:buSzPct val="100000"/>
              <a:buChar char="•"/>
            </a:pPr>
            <a:r>
              <a:rPr lang="en-US" sz="1350" dirty="0">
                <a:solidFill>
                  <a:srgbClr val="DCE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Rozšírenie na ďalšie Jira projekty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9A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1C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8400000">
            <a:off x="-1188720" y="2011680"/>
            <a:ext cx="4572000" cy="4572000"/>
          </a:xfrm>
          <a:prstGeom prst="arc">
            <a:avLst/>
          </a:prstGeom>
          <a:noFill/>
          <a:ln w="25400">
            <a:solidFill>
              <a:srgbClr val="00C2A8">
                <a:alpha val="8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9200000">
            <a:off x="8595360" y="-1371600"/>
            <a:ext cx="5212080" cy="5212080"/>
          </a:xfrm>
          <a:prstGeom prst="arc">
            <a:avLst/>
          </a:prstGeom>
          <a:noFill/>
          <a:ln w="25400">
            <a:solidFill>
              <a:srgbClr val="1685F8">
                <a:alpha val="8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417320"/>
            <a:ext cx="8046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JiraBot premieňa</a:t>
            </a:r>
            <a:endParaRPr lang="en-US" sz="3500" dirty="0"/>
          </a:p>
          <a:p>
            <a:pPr algn="l" indent="0" marL="0">
              <a:buNone/>
            </a:pPr>
            <a:r>
              <a:rPr lang="en-US" sz="350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Jira z formulára na rozhovor.</a:t>
            </a:r>
            <a:endParaRPr lang="en-US" sz="3500" dirty="0"/>
          </a:p>
        </p:txBody>
      </p:sp>
      <p:sp>
        <p:nvSpPr>
          <p:cNvPr id="5" name="Text 3"/>
          <p:cNvSpPr/>
          <p:nvPr/>
        </p:nvSpPr>
        <p:spPr>
          <a:xfrm>
            <a:off x="1024128" y="278892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DCE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Jedna platforma. Jeden kontext. Menej manuálnej práce.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1024128" y="3931920"/>
            <a:ext cx="1956816" cy="914400"/>
          </a:xfrm>
          <a:prstGeom prst="roundRect">
            <a:avLst>
              <a:gd name="adj" fmla="val 8000"/>
            </a:avLst>
          </a:prstGeom>
          <a:solidFill>
            <a:srgbClr val="102946"/>
          </a:solidFill>
          <a:ln w="12700">
            <a:solidFill>
              <a:srgbClr val="24496E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4142232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85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Jira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4443984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9CB3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pracovné tikety</a:t>
            </a:r>
            <a:endParaRPr lang="en-US" sz="1040" dirty="0"/>
          </a:p>
        </p:txBody>
      </p:sp>
      <p:sp>
        <p:nvSpPr>
          <p:cNvPr id="9" name="Shape 7"/>
          <p:cNvSpPr/>
          <p:nvPr/>
        </p:nvSpPr>
        <p:spPr>
          <a:xfrm>
            <a:off x="3291840" y="3931920"/>
            <a:ext cx="1956816" cy="914400"/>
          </a:xfrm>
          <a:prstGeom prst="roundRect">
            <a:avLst>
              <a:gd name="adj" fmla="val 8000"/>
            </a:avLst>
          </a:prstGeom>
          <a:solidFill>
            <a:srgbClr val="102946"/>
          </a:solidFill>
          <a:ln w="12700">
            <a:solidFill>
              <a:srgbClr val="24496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56432" y="4142232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C2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Assets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456432" y="4443984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9CB3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zariadenia</a:t>
            </a:r>
            <a:endParaRPr lang="en-US" sz="1040" dirty="0"/>
          </a:p>
        </p:txBody>
      </p:sp>
      <p:sp>
        <p:nvSpPr>
          <p:cNvPr id="12" name="Shape 10"/>
          <p:cNvSpPr/>
          <p:nvPr/>
        </p:nvSpPr>
        <p:spPr>
          <a:xfrm>
            <a:off x="5559552" y="3931920"/>
            <a:ext cx="1956816" cy="914400"/>
          </a:xfrm>
          <a:prstGeom prst="roundRect">
            <a:avLst>
              <a:gd name="adj" fmla="val 8000"/>
            </a:avLst>
          </a:prstGeom>
          <a:solidFill>
            <a:srgbClr val="102946"/>
          </a:solidFill>
          <a:ln w="12700">
            <a:solidFill>
              <a:srgbClr val="24496E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24144" y="4142232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B5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724144" y="4443984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9CB3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prirodzený jazyk</a:t>
            </a:r>
            <a:endParaRPr lang="en-US" sz="1040" dirty="0"/>
          </a:p>
        </p:txBody>
      </p:sp>
      <p:sp>
        <p:nvSpPr>
          <p:cNvPr id="15" name="Shape 13"/>
          <p:cNvSpPr/>
          <p:nvPr/>
        </p:nvSpPr>
        <p:spPr>
          <a:xfrm>
            <a:off x="7827264" y="3931920"/>
            <a:ext cx="1956816" cy="914400"/>
          </a:xfrm>
          <a:prstGeom prst="roundRect">
            <a:avLst>
              <a:gd name="adj" fmla="val 8000"/>
            </a:avLst>
          </a:prstGeom>
          <a:solidFill>
            <a:srgbClr val="102946"/>
          </a:solidFill>
          <a:ln w="12700">
            <a:solidFill>
              <a:srgbClr val="24496E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91856" y="4142232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6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991856" y="4443984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9CB3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on/offboarding</a:t>
            </a:r>
            <a:endParaRPr lang="en-US" sz="1040" dirty="0"/>
          </a:p>
        </p:txBody>
      </p:sp>
      <p:sp>
        <p:nvSpPr>
          <p:cNvPr id="18" name="Text 16"/>
          <p:cNvSpPr/>
          <p:nvPr/>
        </p:nvSpPr>
        <p:spPr>
          <a:xfrm>
            <a:off x="1024128" y="5715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Ďakujem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372600" y="5715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0C2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Otázky?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9A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Raizenko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JiraBot - AI assistant for Jira and Assets</dc:title>
  <dc:subject>JiraBot project presentation</dc:subject>
  <dc:creator>Imrich Koch</dc:creator>
  <cp:lastModifiedBy>Imrich Koch</cp:lastModifiedBy>
  <cp:revision>1</cp:revision>
  <dcterms:created xsi:type="dcterms:W3CDTF">2026-07-19T05:02:27Z</dcterms:created>
  <dcterms:modified xsi:type="dcterms:W3CDTF">2026-07-19T05:02:27Z</dcterms:modified>
</cp:coreProperties>
</file>